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537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516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763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602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750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660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640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146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008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506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2814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851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706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6561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1097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6783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086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56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jpeg"/><Relationship Id="rId7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zövegdoboz 31">
            <a:extLst>
              <a:ext uri="{FF2B5EF4-FFF2-40B4-BE49-F238E27FC236}">
                <a16:creationId xmlns:a16="http://schemas.microsoft.com/office/drawing/2014/main" id="{68840578-8AFD-67D1-5F26-32556824177C}"/>
              </a:ext>
            </a:extLst>
          </p:cNvPr>
          <p:cNvSpPr txBox="1"/>
          <p:nvPr/>
        </p:nvSpPr>
        <p:spPr>
          <a:xfrm>
            <a:off x="635458" y="4542502"/>
            <a:ext cx="9181185" cy="11899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KoliPortál</a:t>
            </a:r>
            <a:endParaRPr lang="en-US" sz="6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A4A2CC28-BAEC-B7F5-C810-4F58F3797ED4}"/>
              </a:ext>
            </a:extLst>
          </p:cNvPr>
          <p:cNvSpPr txBox="1"/>
          <p:nvPr/>
        </p:nvSpPr>
        <p:spPr>
          <a:xfrm>
            <a:off x="635458" y="5740494"/>
            <a:ext cx="9181185" cy="5079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BGéSZC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Ganz Ábrahám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Két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Tanítási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Nyelvű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Technikum</a:t>
            </a:r>
            <a:endParaRPr lang="en-US" sz="2000" cap="all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8EEE6E42-B08D-9C4D-7A3F-FFD39AF10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86" y="640080"/>
            <a:ext cx="2895056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49" name="Szövegdoboz 48">
            <a:extLst>
              <a:ext uri="{FF2B5EF4-FFF2-40B4-BE49-F238E27FC236}">
                <a16:creationId xmlns:a16="http://schemas.microsoft.com/office/drawing/2014/main" id="{AFEB2F99-4FF2-5887-858B-729E3F5EE701}"/>
              </a:ext>
            </a:extLst>
          </p:cNvPr>
          <p:cNvSpPr txBox="1"/>
          <p:nvPr/>
        </p:nvSpPr>
        <p:spPr>
          <a:xfrm>
            <a:off x="5695607" y="4674662"/>
            <a:ext cx="4652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Készítette:</a:t>
            </a:r>
          </a:p>
          <a:p>
            <a:pPr algn="ctr"/>
            <a:r>
              <a:rPr lang="hu-HU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Kercsó</a:t>
            </a:r>
            <a:r>
              <a:rPr lang="hu-H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Norbert, Pallai Norbert Zoltán</a:t>
            </a:r>
          </a:p>
        </p:txBody>
      </p:sp>
    </p:spTree>
    <p:extLst>
      <p:ext uri="{BB962C8B-B14F-4D97-AF65-F5344CB8AC3E}">
        <p14:creationId xmlns:p14="http://schemas.microsoft.com/office/powerpoint/2010/main" val="3299514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4555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Probléma és megoldás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83EA8B-4567-4CDD-BFD4-7CA1E07D376F}"/>
              </a:ext>
            </a:extLst>
          </p:cNvPr>
          <p:cNvSpPr txBox="1"/>
          <p:nvPr/>
        </p:nvSpPr>
        <p:spPr>
          <a:xfrm>
            <a:off x="5802115" y="2617230"/>
            <a:ext cx="6238342" cy="348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Kihívás (Problémafelvetés):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Széttagolt, gyakran papíralapú adminisztráció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Nehezen követhető szobakapacitások és beosztások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Lassú kommunikáció (karbantartási hibák, pénzügyi tartozások)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Átláthatatlan adathalmazok (Excel táblázatokból eredő hibák)</a:t>
            </a:r>
          </a:p>
          <a:p>
            <a:pPr>
              <a:spcAft>
                <a:spcPts val="400"/>
              </a:spcAft>
              <a:buClr>
                <a:schemeClr val="bg2">
                  <a:lumMod val="75000"/>
                </a:schemeClr>
              </a:buClr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400"/>
              </a:spcAft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KoliPortál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 mi megoldásunk):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Központosított, modern webes platform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Valós idejű, vizuális szoba- és kapacitásmenedzsment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Automatizált pénzügyi és hibajegy-követő rendszer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Kétirányú, transzparens kommunikáció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↔ Diák)</a:t>
            </a:r>
          </a:p>
        </p:txBody>
      </p:sp>
      <p:pic>
        <p:nvPicPr>
          <p:cNvPr id="14" name="Ábra 13" descr="Ötletgyűjtés egyszínű kitöltéssel">
            <a:extLst>
              <a:ext uri="{FF2B5EF4-FFF2-40B4-BE49-F238E27FC236}">
                <a16:creationId xmlns:a16="http://schemas.microsoft.com/office/drawing/2014/main" id="{6F92EEA9-FA39-BDAC-E191-967AF0B82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1231" y="1315039"/>
            <a:ext cx="914400" cy="914400"/>
          </a:xfrm>
          <a:prstGeom prst="rect">
            <a:avLst/>
          </a:prstGeom>
        </p:spPr>
      </p:pic>
      <p:pic>
        <p:nvPicPr>
          <p:cNvPr id="16" name="Ábra 15" descr="Ötletgyűjtés egyszínű kitöltéssel">
            <a:extLst>
              <a:ext uri="{FF2B5EF4-FFF2-40B4-BE49-F238E27FC236}">
                <a16:creationId xmlns:a16="http://schemas.microsoft.com/office/drawing/2014/main" id="{7D8B81AB-9207-8B95-2FF5-BF45250D5C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023" y="482246"/>
            <a:ext cx="1297164" cy="1297164"/>
          </a:xfrm>
          <a:prstGeom prst="rect">
            <a:avLst/>
          </a:prstGeom>
        </p:spPr>
      </p:pic>
      <p:pic>
        <p:nvPicPr>
          <p:cNvPr id="21" name="Ábra 20" descr="Felhasználó egyszínű kitöltéssel">
            <a:extLst>
              <a:ext uri="{FF2B5EF4-FFF2-40B4-BE49-F238E27FC236}">
                <a16:creationId xmlns:a16="http://schemas.microsoft.com/office/drawing/2014/main" id="{41149D72-D9AE-E417-D103-055F5E037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2205" y="4121196"/>
            <a:ext cx="914400" cy="91440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41847B20-0FA1-A467-52CD-453FA5140E2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73" y="2232726"/>
            <a:ext cx="794954" cy="794954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D8D6169E-2CF7-EDA6-334B-F6A1504C94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0" y="5277851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95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1551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KoliPortál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Fő Funkciói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6C5DABC-F904-4E86-B069-0AD16261948B}"/>
              </a:ext>
            </a:extLst>
          </p:cNvPr>
          <p:cNvSpPr txBox="1"/>
          <p:nvPr/>
        </p:nvSpPr>
        <p:spPr>
          <a:xfrm>
            <a:off x="5774392" y="2630203"/>
            <a:ext cx="6138334" cy="367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Szoba- és Kapacitásmenedzsment: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Valós idejű áttekintés a férőhelyekről és lakókról.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Pénzügyi és Számlázási Modul: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Tartozások nyomon követése és automatizált, tömeges díjkiírás.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Karbantartási Hibajegy-rendszer: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Műszaki problémák bejelentése és állapotuk menedzselése (Új ➔ Folyamatban ➔ Kész).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Hallgatói Önkiszolgáló Felület: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Saját egyenleg kezelése, bankkártyás fizetés és hibabejelentés.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Jogosultságkezelés és Biztonság: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Szerepkör-alapú hozzáférések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Diák).</a:t>
            </a:r>
          </a:p>
          <a:p>
            <a:pPr>
              <a:spcAft>
                <a:spcPts val="400"/>
              </a:spcAft>
              <a:buClr>
                <a:schemeClr val="bg2">
                  <a:lumMod val="75000"/>
                </a:schemeClr>
              </a:buClr>
            </a:pPr>
            <a:endParaRPr lang="hu-HU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Ábra 5" descr="Ötletgyűjtés egyszínű kitöltéssel">
            <a:extLst>
              <a:ext uri="{FF2B5EF4-FFF2-40B4-BE49-F238E27FC236}">
                <a16:creationId xmlns:a16="http://schemas.microsoft.com/office/drawing/2014/main" id="{6CBB58D0-C5D7-62D7-F150-3B6455F6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405" y="673628"/>
            <a:ext cx="914400" cy="914400"/>
          </a:xfrm>
          <a:prstGeom prst="rect">
            <a:avLst/>
          </a:prstGeom>
        </p:spPr>
      </p:pic>
      <p:pic>
        <p:nvPicPr>
          <p:cNvPr id="14" name="Ábra 13" descr="Felhasználó egyszínű kitöltéssel">
            <a:extLst>
              <a:ext uri="{FF2B5EF4-FFF2-40B4-BE49-F238E27FC236}">
                <a16:creationId xmlns:a16="http://schemas.microsoft.com/office/drawing/2014/main" id="{7E941EDB-48D0-AB73-EE96-A4D98B917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2205" y="4121196"/>
            <a:ext cx="914400" cy="9144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FAB41FE5-37AA-8E84-CBCB-D971200399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313" y="2171766"/>
            <a:ext cx="916874" cy="91687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45BC3922-83D8-EE05-C64E-D43DBC3E706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0" y="5277851"/>
            <a:ext cx="952509" cy="952509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F3B1590B-C188-725A-1EBD-A32AA1D376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439" y="1376812"/>
            <a:ext cx="794954" cy="7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7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Adminisztrátorok és Diákok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385F9F7-BD80-4839-92A2-A71375773CDF}"/>
              </a:ext>
            </a:extLst>
          </p:cNvPr>
          <p:cNvSpPr txBox="1"/>
          <p:nvPr/>
        </p:nvSpPr>
        <p:spPr>
          <a:xfrm>
            <a:off x="5824182" y="2477244"/>
            <a:ext cx="6557759" cy="420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KoliPortál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kétirányú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megközelítése: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i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Adminisztrátorok: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Teljes rálátás a szobák és lakók adataira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Tömeges pénzügyi műveletek (díjkiírások) egy gombnyomásra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Központosított hibajegy-kezelés és delegálás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i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Diákok: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Saját, letisztult önkiszolgáló felület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Kintlévőségek megtekintése és a tartozások rendezése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Közvetlen, gyors hibabejelentés a szobából</a:t>
            </a:r>
            <a:endParaRPr lang="hu-H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" name="Ábra 9" descr="Felhasználó egyszínű kitöltéssel">
            <a:extLst>
              <a:ext uri="{FF2B5EF4-FFF2-40B4-BE49-F238E27FC236}">
                <a16:creationId xmlns:a16="http://schemas.microsoft.com/office/drawing/2014/main" id="{58D1EF32-D9B0-93E8-936C-CED39D059C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8835" y="3979690"/>
            <a:ext cx="1197412" cy="1197412"/>
          </a:xfrm>
          <a:prstGeom prst="rect">
            <a:avLst/>
          </a:prstGeom>
        </p:spPr>
      </p:pic>
      <p:pic>
        <p:nvPicPr>
          <p:cNvPr id="12" name="Ábra 11" descr="Ötletgyűjtés egyszínű kitöltéssel">
            <a:extLst>
              <a:ext uri="{FF2B5EF4-FFF2-40B4-BE49-F238E27FC236}">
                <a16:creationId xmlns:a16="http://schemas.microsoft.com/office/drawing/2014/main" id="{7558EEAB-136F-3166-B03F-461BE0A3D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405" y="673628"/>
            <a:ext cx="914400" cy="91440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E054AC66-0937-4226-C58E-0CCA06B83F8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73" y="2232726"/>
            <a:ext cx="794954" cy="79495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C812E144-210E-DB7E-2EE7-FD85E3C09CD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0" y="5277851"/>
            <a:ext cx="952509" cy="952509"/>
          </a:xfrm>
          <a:prstGeom prst="rect">
            <a:avLst/>
          </a:prstGeom>
        </p:spPr>
      </p:pic>
      <p:pic>
        <p:nvPicPr>
          <p:cNvPr id="19" name="Ábra 18" descr="Felhasználó egyszínű kitöltéssel">
            <a:extLst>
              <a:ext uri="{FF2B5EF4-FFF2-40B4-BE49-F238E27FC236}">
                <a16:creationId xmlns:a16="http://schemas.microsoft.com/office/drawing/2014/main" id="{B3F47527-15D7-C68A-3FB0-C50A687A1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1230" y="13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79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rogram 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elépítése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és t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echnológiá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2AE31B7-9AE0-4DA6-9AC1-7FE1DEA77E05}"/>
              </a:ext>
            </a:extLst>
          </p:cNvPr>
          <p:cNvSpPr txBox="1"/>
          <p:nvPr/>
        </p:nvSpPr>
        <p:spPr>
          <a:xfrm>
            <a:off x="5872480" y="2507054"/>
            <a:ext cx="63195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 (Kliensoldal) –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Blazor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C# és HTML alapú felhasználói felület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Bootstrap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5 (Reszponzív, mobilbarát dizájn)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 (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Szerveroldal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– ASP.NET Core Web API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Üzleti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logika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és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réteg</a:t>
            </a:r>
            <a:endParaRPr lang="hu-HU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JWT (JSON Web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alapú hitelesítés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Swagger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(API végpontok tesztelése)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Adatbázis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SQL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Framework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(ORM)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Code-First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adatbázis-generálás</a:t>
            </a:r>
          </a:p>
        </p:txBody>
      </p:sp>
      <p:pic>
        <p:nvPicPr>
          <p:cNvPr id="9" name="Ábra 8" descr="Felhasználó egyszínű kitöltéssel">
            <a:extLst>
              <a:ext uri="{FF2B5EF4-FFF2-40B4-BE49-F238E27FC236}">
                <a16:creationId xmlns:a16="http://schemas.microsoft.com/office/drawing/2014/main" id="{20C8D237-EFC0-F1F2-E0BB-A5389AEF9E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2205" y="4121196"/>
            <a:ext cx="914400" cy="914400"/>
          </a:xfrm>
          <a:prstGeom prst="rect">
            <a:avLst/>
          </a:prstGeom>
        </p:spPr>
      </p:pic>
      <p:pic>
        <p:nvPicPr>
          <p:cNvPr id="10" name="Ábra 9" descr="Ötletgyűjtés egyszínű kitöltéssel">
            <a:extLst>
              <a:ext uri="{FF2B5EF4-FFF2-40B4-BE49-F238E27FC236}">
                <a16:creationId xmlns:a16="http://schemas.microsoft.com/office/drawing/2014/main" id="{2D9D0D29-FF11-EC4A-8343-A8FF77B85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405" y="673628"/>
            <a:ext cx="914400" cy="914400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74E8ED0E-BBEA-A20C-636E-8263EEDAA4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73" y="2232726"/>
            <a:ext cx="794954" cy="794954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6E84C7FD-35F8-EC3F-A991-920AA7F112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1" y="5259812"/>
            <a:ext cx="1090188" cy="1090188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C02F20AD-E74D-C593-766D-585949E3021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477" y="1295984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6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33C8-5592-55C2-8820-FE1031CB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60C9D33E-13E8-53C0-0C01-BF59771F35A6}"/>
              </a:ext>
            </a:extLst>
          </p:cNvPr>
          <p:cNvSpPr/>
          <p:nvPr/>
        </p:nvSpPr>
        <p:spPr>
          <a:xfrm>
            <a:off x="5365631" y="1967844"/>
            <a:ext cx="7474863" cy="44555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8BBFEA17-B6D8-834E-6900-C3ACD6C8FD37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CD731169-84B6-1176-5AA5-9FDEFF17EB09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1E6F537-2A23-47D4-A223-FA5E9A138E4E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4F5BD5A-9CCD-674E-6D34-55715B973A1D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CA36E11-84AC-930B-C734-EC8D5EA53C83}"/>
              </a:ext>
            </a:extLst>
          </p:cNvPr>
          <p:cNvSpPr txBox="1"/>
          <p:nvPr/>
        </p:nvSpPr>
        <p:spPr>
          <a:xfrm>
            <a:off x="5802115" y="2617230"/>
            <a:ext cx="6238342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Keretrendszer: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Kialakítás: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RESTful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API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Architektúra (Rétegek):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Végpontok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Endpointok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és HTTP kérések kezelése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Üzleti logika és adatfeldolgozás leválasztása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 és Hitelesítés (</a:t>
            </a: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(JSON Web </a:t>
            </a: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Biztonságos, állapotmentes munkamenet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(Szerepkörök):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Szigorú jogosultságkezelés (Adminisztrátor, Diák)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369174D3-F81F-31B2-2357-F5B726B7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38" y="2544532"/>
            <a:ext cx="1465640" cy="4313468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75772E79-CF93-9C0A-D5EA-0241581E3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04" y="129498"/>
            <a:ext cx="1465640" cy="1465640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CC8251C3-CCF0-E6DF-E377-861B9D7DE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7" y="610733"/>
            <a:ext cx="984406" cy="984406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1A6E018F-BCEA-607C-E98E-84848EE6B19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E5F074A5-AE88-C7ED-B945-46C145C86B0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4200410"/>
            <a:ext cx="820314" cy="820314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C481119E-97FD-BC9F-B474-2A49E4EDAA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26349698-0470-4114-BE52-00C397BC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563" y="1372568"/>
            <a:ext cx="799341" cy="79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3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E8DC-C23D-2A2E-9811-BDB602C9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DAB44300-FD59-6021-A3DE-E11439A59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800" y="4440829"/>
            <a:ext cx="2524707" cy="2306523"/>
          </a:xfrm>
          <a:prstGeom prst="rect">
            <a:avLst/>
          </a:prstGeom>
        </p:spPr>
      </p:pic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16B6F85D-35A4-301C-0D68-2F62D25DDFDC}"/>
              </a:ext>
            </a:extLst>
          </p:cNvPr>
          <p:cNvSpPr/>
          <p:nvPr/>
        </p:nvSpPr>
        <p:spPr>
          <a:xfrm>
            <a:off x="5365631" y="1967843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776E269E-2E7B-83E0-93C0-1C2E0856139E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AE4C4569-FD62-4871-8066-A1002E599846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9B9FC6C-C93A-E044-4713-0507846AF974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Adatmodell és Adatbázis-kapcsolat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D4C4E3E-2C7E-701E-9A38-AC683C56B643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08B1D35-964C-204A-2CF5-4925FA2A4C32}"/>
              </a:ext>
            </a:extLst>
          </p:cNvPr>
          <p:cNvSpPr txBox="1"/>
          <p:nvPr/>
        </p:nvSpPr>
        <p:spPr>
          <a:xfrm>
            <a:off x="5774392" y="2630203"/>
            <a:ext cx="6138334" cy="4052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„MODEL” mappa szerepe: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 osztályok, melyek az adatbázistáblákat reprezentálják (pl.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Felhasznalok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Szobak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KoliPortal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(Entity Framework):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Ez az osztály felel a C# modellek és az SQL táblák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DbSet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összekötéséért.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Kezeli a relációkat (pl. Melyik Diák melyik Szobában lakik).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Adatbázis feltöltése: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Kezdeti fázis: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Alap struktúra és minimális adatok manuális beállítása a gyors indulásért.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Éles működés: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 adatok feltöltése az Adminisztrátori felület "Regisztrálás" modulján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8B5BCC2-B49B-837C-0DF5-9DB019F0A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66" y="2576298"/>
            <a:ext cx="1922941" cy="1564426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7ED311B-38A6-81BC-F8AE-E91A1C8AAF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FFEA3BB4-0884-44E7-7E47-1DAF771388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236" y="2090641"/>
            <a:ext cx="1079124" cy="1079124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E99C2E0-5ACC-78F7-6E0C-9DD609F8E3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4200410"/>
            <a:ext cx="820314" cy="82031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EC9CFADA-9CF3-99C0-3193-49D22A365E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A4E5F4EB-9684-7D00-673D-31942B6FE39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755" y="1361124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42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B759-1C90-338A-469D-91F29023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F097C15E-2C13-D3E7-3784-13CCF465C812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74974C22-C5A5-F376-2E81-A56664C2F266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0C32C8F7-459F-49D3-00A0-AD9714BEE774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92FD2DC-60C4-CC3C-AD01-CDD6BA3F6E2F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3A00C13F-EEFC-8206-E7C2-463C2BC6B6DC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4272D29-AAE8-298D-BB46-3110AC4B12BA}"/>
              </a:ext>
            </a:extLst>
          </p:cNvPr>
          <p:cNvSpPr txBox="1"/>
          <p:nvPr/>
        </p:nvSpPr>
        <p:spPr>
          <a:xfrm>
            <a:off x="5824182" y="2477244"/>
            <a:ext cx="6557759" cy="420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Controllerek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Feladata: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Bejövő HTTP kérések (GET, POST, PUT, DELETE) fogadása és irányítása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Frontend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Blazor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és a Backend közötti végpontok biztosítása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Függőséginjektálás (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Dependency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Injection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alkalmazása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Controller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lazán kapcsolt: interfészt használ az adatbázis helyett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Aszinkron működés (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await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Nem blokkolja a szervert adatlekérés közben</a:t>
            </a:r>
            <a:endParaRPr lang="hu-H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7D9F7D1-9F1C-D2B7-FB20-E8A887D21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8018C33-105B-FC26-B62B-41EACAD590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B7039A12-20C2-DFCC-5A19-39C452244A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57" y="4090226"/>
            <a:ext cx="1040682" cy="104068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ED627EE9-5097-08FB-9702-31B9AD7BA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5AE70EA5-E6FF-5530-84E6-1524CF2BF2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99" y="1362082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496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FB0D-F98D-B9F7-3D68-FACED929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48F9A21B-2C7E-8619-1560-FAF222D8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286" y="2610828"/>
            <a:ext cx="6211312" cy="4136525"/>
          </a:xfrm>
          <a:prstGeom prst="rect">
            <a:avLst/>
          </a:prstGeom>
        </p:spPr>
      </p:pic>
      <p:sp>
        <p:nvSpPr>
          <p:cNvPr id="2" name="Kör: üres 1">
            <a:extLst>
              <a:ext uri="{FF2B5EF4-FFF2-40B4-BE49-F238E27FC236}">
                <a16:creationId xmlns:a16="http://schemas.microsoft.com/office/drawing/2014/main" id="{8426A087-E4B7-1F28-5CE6-7A202FAA60F1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72638380-C81A-B052-C075-C8ED1BEFC821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9E3D453-D524-4199-90BF-EE4510FA491E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D31B2F95-B765-36A7-F3CD-42147998846D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C8B0FF2-C695-1213-F0C2-3D395ACF3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D9B2B4B-7F4E-739A-DBCB-9E12D6F2C8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03066549-743B-C2A0-1E2A-FBE5E51A009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57" y="4090226"/>
            <a:ext cx="1040682" cy="1040682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D255B07B-7997-5E3F-1130-2AEA9BCA6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A9DE7CCD-7899-3646-B3DE-502DFEE2B48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99" y="1399732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2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7C6C-D411-6C2F-EC18-1DCA9525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C50617F4-F22F-2CED-A761-4DC3D08567D4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F1774A0-3D70-0ADC-0761-634C821A78F9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5CCEDBDF-465B-7FFC-211C-C7D1F056A64F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599BC86-45E4-85B9-E1C2-3334CB6555E7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24F8BD98-63E2-CDE2-D7B6-67F3DFA9D1AF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A97FDAF-899A-D601-00E6-F5899D6028D0}"/>
              </a:ext>
            </a:extLst>
          </p:cNvPr>
          <p:cNvSpPr txBox="1"/>
          <p:nvPr/>
        </p:nvSpPr>
        <p:spPr>
          <a:xfrm>
            <a:off x="5872480" y="2507054"/>
            <a:ext cx="63195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Keretrendszer: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Blazor</a:t>
            </a:r>
            <a:endParaRPr lang="hu-HU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Dizájn: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Bootstrap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5 (Modern, reszponzív és mobilbarát megjelenés)-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Projektstruktúra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(Komponens alapú architektúra):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Pages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(Oldalak):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Útvonalhoz (URL) kötött főbb nézetek (pl. Belépés, Profil,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(Komponensek):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Újrahasznosítható UI építőkockák (pl. Navigációs sáv, Hibajegy-kártya)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(Szolgáltatások):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Kommunikáció a Backend API-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(HTTP kérések)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7B19D73F-4D05-F2EF-FADA-09EF9941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792" y="2688980"/>
            <a:ext cx="1920406" cy="373412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E6B5015-9453-A639-AC3B-346062AF0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155" y="129498"/>
            <a:ext cx="1717267" cy="96596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CAA2249D-6A22-97E7-FC29-35909849E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494" y="109235"/>
            <a:ext cx="1219986" cy="1006488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B1EB02D0-2F61-D7DA-40F3-00DF2C35D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0058"/>
            <a:ext cx="1046480" cy="56084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BA3D12AE-B6CC-E69E-ED3B-AD9FADC4D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841D3271-9EE9-5199-D89E-E9E86E9A996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5CC930A8-B7C3-AB42-8686-7A17DEF00A6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4200410"/>
            <a:ext cx="820314" cy="820314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AD508C5D-3DA0-462C-FC20-BD6834A520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04" y="5369361"/>
            <a:ext cx="991180" cy="991180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53C0012A-9CA0-6ECC-8318-782CF039B1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077" y="1363161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04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7BFC-A5C3-DDBC-3168-A1BB74C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0F405C3A-62AF-36DF-0D73-4F94AACBE880}"/>
              </a:ext>
            </a:extLst>
          </p:cNvPr>
          <p:cNvSpPr/>
          <p:nvPr/>
        </p:nvSpPr>
        <p:spPr>
          <a:xfrm>
            <a:off x="5365631" y="1967844"/>
            <a:ext cx="7474863" cy="44555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E7E8D34-877F-DEEA-47DA-A9936C8F0893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919FEE78-CB56-718E-91DE-262BD45C4E4F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AB6D0D54-DFFF-CC25-113F-95C046C755CA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Adatbázis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6431B516-9F53-410F-D78F-8F40A45C5236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79EBDD5-8F4E-AF9D-2999-D48BD7326E5B}"/>
              </a:ext>
            </a:extLst>
          </p:cNvPr>
          <p:cNvSpPr txBox="1"/>
          <p:nvPr/>
        </p:nvSpPr>
        <p:spPr>
          <a:xfrm>
            <a:off x="5802115" y="2617230"/>
            <a:ext cx="6238342" cy="364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Típus: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Relációs adatbázis (SQL)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Kezelés: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Adattáblák száma: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tábla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legfontosabb táblák és szerepük: 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Felhasználók: Diákok és Adminisztrátorok adatai, jelszó-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hashek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szerepkörök.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Szobák: Szobaszámok, férőhelyek, emeletek és aktuális kapacitás.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Hibajegyek: Bejelentések szövege, állapota (Új, Kész), bejelentés ideje.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Pénzügyek: Kiírt díjak, határidők, befizetési státuszok.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207A02F-F6A7-C93A-0984-AAAB26F6B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101" y="3237033"/>
            <a:ext cx="1634263" cy="100619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5E1078B-7290-33BF-06DA-9D2082BB9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39" y="599440"/>
            <a:ext cx="1006992" cy="100699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E65E005-32AB-8244-F609-3E91346E8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354605B8-546D-BBBA-68DC-14D51E1C7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5FFDE81C-D0B2-93F1-B26C-0112FA08AD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5B12C164-421C-F789-252E-8D08B139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89" y="1388368"/>
            <a:ext cx="767741" cy="76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7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317B-F166-8FB1-F4B2-9BF73FB0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ör: üres 1">
            <a:extLst>
              <a:ext uri="{FF2B5EF4-FFF2-40B4-BE49-F238E27FC236}">
                <a16:creationId xmlns:a16="http://schemas.microsoft.com/office/drawing/2014/main" id="{071373CC-2441-1CFF-DDC3-35D2C95DA990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5B41C1AC-C875-49DA-4A1B-6FF86E47AA28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31CBD40-DA58-0A94-D766-A0A689C5FD4A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Adatbázis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983D6022-D5A7-3291-5188-5275F80D5D2A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25EB850-CC18-21C1-CCA7-88BD26404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190" y="2481623"/>
            <a:ext cx="8275810" cy="437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8762C12-FB63-DA61-4704-A42CCF25A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90" y="600591"/>
            <a:ext cx="1004690" cy="100469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FE805D9-1254-0537-864A-156234DC7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12221C3-4E44-8D0F-7312-0CBC64AF05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F431792-0C67-8CD8-707A-EBFB3D034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C4C5155-E858-CF83-1906-88139BC92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89" y="1388368"/>
            <a:ext cx="767741" cy="76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62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801A-5C32-32B3-4FB4-7609CF35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80785881-1562-B7D9-BD2C-9C767CA7F91B}"/>
              </a:ext>
            </a:extLst>
          </p:cNvPr>
          <p:cNvSpPr/>
          <p:nvPr/>
        </p:nvSpPr>
        <p:spPr>
          <a:xfrm>
            <a:off x="5365631" y="1967843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4829D54D-AA9C-1C77-BFC9-350BAF049E12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DB070C28-1C4C-E46F-8DF4-5B10D3FE8FB0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E26EF07-8FB6-E37D-2377-C6F09DEBBA99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Reszponzivitás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FC26D357-67F5-2DC9-C10A-DC22FBAC9A7A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DF9ADA0-B651-BE91-BAE5-60ABE988A995}"/>
              </a:ext>
            </a:extLst>
          </p:cNvPr>
          <p:cNvSpPr txBox="1"/>
          <p:nvPr/>
        </p:nvSpPr>
        <p:spPr>
          <a:xfrm>
            <a:off x="5774392" y="2630203"/>
            <a:ext cx="6138334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Mobile-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megközelítés: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diákok elsősorban okostelefonról használják a portált.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Dinamikus rácsszerkezet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Automatikusan alkalmazkodó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tördelődő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tartalmak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Képernyőméretek kezelése: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Asztali gép, Tablet, Mobil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Navigációs sáv (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Navbar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Nagy képernyőn: Teljes, kiterjesztett menü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 képernyőn: Helytakarékos "Hamburgermenü" (összecsukható navigáció)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D943C935-A2AE-2FA1-78E9-DF489229C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D66CC15-745D-1ACE-A74D-82A32D4FC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23" y="2126099"/>
            <a:ext cx="1060056" cy="1060056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D535D0F2-6ECC-814F-DAEB-57C42649C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26EEB2D6-5A88-0A38-949C-2ABBDE0DA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77A298F7-B362-AC17-75A2-5E353E7D8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138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08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E43A-B505-E6BF-0AC4-FE1F23DD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ör: üres 1">
            <a:extLst>
              <a:ext uri="{FF2B5EF4-FFF2-40B4-BE49-F238E27FC236}">
                <a16:creationId xmlns:a16="http://schemas.microsoft.com/office/drawing/2014/main" id="{73907391-F1FF-4DAD-8B47-DABEFCB66DE2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7BEE1A28-1612-BFAA-A072-0F85BF4F5B44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81A7C76-AD22-9713-50C3-2736664AF561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Reszponzivitás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33245590-93B7-F6C5-06CA-9C55621E3521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EC8BA65-CF8F-DD10-3BF9-DE8F1654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461" y="2656127"/>
            <a:ext cx="2076232" cy="369846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8A8B340-C67B-4C60-04A3-21565CB6D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830" y="3218590"/>
            <a:ext cx="6215040" cy="313599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617BB9F5-113A-D4DA-106B-833A8BFBA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C2E3A4F9-1A48-0A34-4F16-89060442D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23" y="2126099"/>
            <a:ext cx="1060056" cy="1060056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BA154CDA-EE19-C66A-9322-3430EC33C2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E33B2DDB-2FBB-44FC-CD93-026C2F1DA3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38CA9FDC-FC61-4C84-8F03-ABC42C9711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14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CB9D-5E44-33D7-D331-35AD346E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17242862-F6F1-E4A5-55F1-34C18C310D48}"/>
              </a:ext>
            </a:extLst>
          </p:cNvPr>
          <p:cNvSpPr/>
          <p:nvPr/>
        </p:nvSpPr>
        <p:spPr>
          <a:xfrm>
            <a:off x="5289030" y="2078491"/>
            <a:ext cx="7474863" cy="41361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A36D460-5191-E4F7-85AF-C178F1EC0D92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CBAD87F1-9AB4-9486-CA85-567D5E13D844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0AD3251F-E367-CC22-5BF6-81F8C82A71E5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Tesztek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902C77D1-E647-1B88-902D-B5A861511E00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5986C8F-BBD8-AB92-934D-A218BD1F0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3709B9D-B1B4-755F-D27A-C57B33CFF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DC81FB8E-21A2-0670-225A-FDE20E470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725" y="4072492"/>
            <a:ext cx="997348" cy="99734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706E8225-07A0-F8BC-3577-1B61F7819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046D5D08-9C03-747F-32AB-6A15849FD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81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B704-F462-D937-DB36-FDAA59E2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4394F4E0-1568-38E5-5015-7083C54BDA69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56BEB0BB-1ED3-BC1F-C926-E0BBA22F46B0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C4278D17-EFBA-A127-CE78-C3A159E79011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B49A2916-602D-4780-1D65-F5FF8BDADD8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Csapatmunka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4BE0E943-DF69-F4A5-A812-3C81FDEF5413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77D37D4-FCB1-431D-BD76-F863D9729CC1}"/>
              </a:ext>
            </a:extLst>
          </p:cNvPr>
          <p:cNvSpPr txBox="1"/>
          <p:nvPr/>
        </p:nvSpPr>
        <p:spPr>
          <a:xfrm>
            <a:off x="5872480" y="2507054"/>
            <a:ext cx="63195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Verziókövetés és Kódmegosztás: GitHub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Közös kódbázis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Repository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használata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Folyamatos mentések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Commitok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és verziókezelés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Kódütközések elkerülése, biztonságos fejlesztés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Kommunikáció és Problémamegoldás: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Discord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Napi szintű kapcsolattartás és egyeztetés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Élő képernyőmegosztás a közös hibakereséshez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Gyors reagálás az integrációs problémákra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Hatékony feladatmegosztás: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Tisztázott szerepkörök (Frontend, Backend, Adatbázis) a csapattagok között.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C20CE3B9-0A85-A750-59E3-6129A49B5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33" y="2610828"/>
            <a:ext cx="1124618" cy="1124618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30697D7D-D41D-F0DC-7D1B-74FF15D97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80" y="4048420"/>
            <a:ext cx="1476324" cy="147632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2A43DB1F-045D-7BB3-024B-F5D38BBEE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D79CBC6D-97CA-5E4A-193F-5A5F63309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E119FFAC-D3FB-BD76-2AC2-53531500C8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0E305416-4F37-2B53-0460-3B39EB19B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32" y="5225705"/>
            <a:ext cx="1124618" cy="1124618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8CFA1591-AF33-D904-D033-BF2500875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40" y="1278875"/>
            <a:ext cx="986728" cy="98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21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6596-D554-B8F8-972A-C740090E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A933017-A145-1DEF-C69A-8A74B0BBF370}"/>
              </a:ext>
            </a:extLst>
          </p:cNvPr>
          <p:cNvSpPr/>
          <p:nvPr/>
        </p:nvSpPr>
        <p:spPr>
          <a:xfrm>
            <a:off x="4795521" y="1967843"/>
            <a:ext cx="8044974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0A24AF7A-9578-7780-F384-D4D3BFB4756A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5B0FC20A-9128-961F-6C10-62C056D6F369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0E23DFE-455D-55D6-EF7F-E79F99114917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Csapatmunka - Backend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ECB818E0-1E2C-8772-9162-DEE636B2C68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59D4DD0-B107-05C1-4010-68A2440DDD9E}"/>
              </a:ext>
            </a:extLst>
          </p:cNvPr>
          <p:cNvSpPr txBox="1"/>
          <p:nvPr/>
        </p:nvSpPr>
        <p:spPr>
          <a:xfrm>
            <a:off x="5020184" y="2608008"/>
            <a:ext cx="3321565" cy="4165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hu-HU" sz="1700" b="1" u="sng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Kercsó</a:t>
            </a:r>
            <a:r>
              <a:rPr lang="hu-HU" sz="1700" b="1" u="sng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Norbert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 és Hitelesítés: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(JSON Web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implementáció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Szerepkörök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/Diák) és jogosultságok ellenőrzése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AuthController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(Bejelentkezés, Regisztráció)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FelhasznalokController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DiakAdatokController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PenzugyekController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93975C4-C15C-3474-A007-AD746E9EC161}"/>
              </a:ext>
            </a:extLst>
          </p:cNvPr>
          <p:cNvSpPr txBox="1"/>
          <p:nvPr/>
        </p:nvSpPr>
        <p:spPr>
          <a:xfrm>
            <a:off x="8341749" y="2608008"/>
            <a:ext cx="3779131" cy="374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hu-HU" sz="1700" b="1" u="sng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Pallai Norbert Zoltán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Kollégiumi Üzleti Logika: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Adatbázis-kapcsolatok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DbContext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menedzselése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FizetesTipusokController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KarbantartasiKeresekController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KarbantartasStatuszokController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KollegiumController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SzerepkorController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SzobaBeosztasokController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5441321-65CA-1514-8B5C-90836A63B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90" y="569621"/>
            <a:ext cx="1066630" cy="106663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DD47D70-62DF-63EF-D40A-5B31C6FDB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2078491"/>
            <a:ext cx="914400" cy="91440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208F5AF7-6279-1F6D-2DC2-0284A3982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4296974"/>
            <a:ext cx="726628" cy="726628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ADC73C9E-4551-A078-D07E-8ECD3AC249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5404849"/>
            <a:ext cx="807415" cy="807415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66EF1E7A-F3DF-D389-99D9-4EF4489F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60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B8E7-B2C5-84A6-A7A8-E6DF98C9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08EFA23C-5A65-E1AB-27A7-76101E04C68D}"/>
              </a:ext>
            </a:extLst>
          </p:cNvPr>
          <p:cNvSpPr/>
          <p:nvPr/>
        </p:nvSpPr>
        <p:spPr>
          <a:xfrm>
            <a:off x="5289030" y="2078491"/>
            <a:ext cx="7474863" cy="367657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0BAC81A5-E268-3F6F-3E82-163BE9E329E8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35D01684-91BC-1D98-E565-787B74FE0E05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42DD5CC-1E05-6513-6CF7-074C602BABC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Csapatmunka - Frontend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C34BADB6-FEC3-C611-8508-A8DDD805DC41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94F14F0-CBF1-7859-E93D-5502B2AF63D5}"/>
              </a:ext>
            </a:extLst>
          </p:cNvPr>
          <p:cNvSpPr txBox="1"/>
          <p:nvPr/>
        </p:nvSpPr>
        <p:spPr>
          <a:xfrm>
            <a:off x="5415280" y="2608008"/>
            <a:ext cx="6776720" cy="285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Célirányos feladatmegosztás a </a:t>
            </a: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Blazor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felületen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Kercsó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Norbert: Adminisztrátori felület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Komplex műszerfalak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és táblázatok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Regisztrációs űrlapok és tömeges adatkezelési nézetek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Pallai Norbert Zoltán: Lakó/Diák felület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Letisztult, mobilbarát önkiszolgáló portál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Saját adatok, egyenlegek és hibabejelentő űrlapok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Közös fejlesztés: Főoldal és Bejelentkezés (Login)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rendszer összekötését együtt oldottuk meg</a:t>
            </a: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5FB4F269-AA61-5459-F148-CC2A2FE7A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645736"/>
            <a:ext cx="914400" cy="91440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8CBFDE95-F18E-4902-B580-37932664F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02" y="1952241"/>
            <a:ext cx="1166900" cy="1166900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40F7823E-9632-44FB-AEDB-3E6EBE9F8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4296974"/>
            <a:ext cx="726628" cy="72662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39036F94-0616-6B15-E2FF-58CDAE30E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5404849"/>
            <a:ext cx="807415" cy="807415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8D58B57C-2806-6754-93A8-CC0EAF14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82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D544-117D-EFCE-3585-0B46E2FF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290A9330-A4F7-D3A9-801E-3ED8E25B5CCD}"/>
              </a:ext>
            </a:extLst>
          </p:cNvPr>
          <p:cNvSpPr/>
          <p:nvPr/>
        </p:nvSpPr>
        <p:spPr>
          <a:xfrm>
            <a:off x="5289030" y="2078491"/>
            <a:ext cx="7474863" cy="394638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3743A806-9EEF-A68F-B197-432C81D00630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ADD4BA74-16CC-1D24-C808-16AA5DA4B2B9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338AC07-874F-6025-C115-4AFBAC223379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Publikáció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B0B1536A-0091-C879-06ED-89390F74EB58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8824AF2-58D2-A0D7-2E0B-A4E73BDFA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645736"/>
            <a:ext cx="914400" cy="9144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8E0BB43-2511-26D5-985B-1B30F2457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2078491"/>
            <a:ext cx="914400" cy="9144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BDA6DC5-BBB4-457F-C0D0-330594230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972" y="4215694"/>
            <a:ext cx="889188" cy="88918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DC0C3F3-AE19-BAEE-128C-DC5C46424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5404849"/>
            <a:ext cx="807415" cy="807415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9045C8F8-E5E3-3058-394E-4226D0B3C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9" y="1408925"/>
            <a:ext cx="726628" cy="72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22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834B-969C-6551-AFD8-40B390F7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EEFB4CBF-8D12-556A-DBAE-CEFBE97BCD3F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35CA85D6-BD56-8EDF-4E61-F368206FF493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877B4102-86DD-ABFA-303E-39953C6CB1CF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1011DF5-C7B9-5D9A-73E7-81D89F963659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Jövő: Fejlesztési lehetőségek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52911093-81A6-9DC2-A580-D9134BF04F77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EE85747-48F1-83BC-37F3-CAF90421EF6C}"/>
              </a:ext>
            </a:extLst>
          </p:cNvPr>
          <p:cNvSpPr txBox="1"/>
          <p:nvPr/>
        </p:nvSpPr>
        <p:spPr>
          <a:xfrm>
            <a:off x="5872480" y="2507054"/>
            <a:ext cx="631952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Több kollégium elérhetőségének és kezelésének kialakítása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Egyéni pénzügyi befizetések teljeskörű kezelése a diákoknál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Pénzügyek fülnél a statisztikák és összegek kiterjesztett megjelenítése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„Beállítások” modul funkcionális továbbfejlesztése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3374CFC-7484-A54A-910A-B8B7B7669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645736"/>
            <a:ext cx="914400" cy="9144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CAD93C5-0C42-10E7-5364-A0B96537C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2078491"/>
            <a:ext cx="914400" cy="9144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69A890AE-2D06-9B3F-F0BA-BC2299F1E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4296974"/>
            <a:ext cx="726628" cy="72662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69B2B0C-FB33-20C9-B6AB-C6FBB4052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69" y="5317913"/>
            <a:ext cx="981288" cy="981288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17DE4FE1-8103-C47F-80D9-F03BF0F50D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526" y="1368531"/>
            <a:ext cx="807415" cy="8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04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04AB579-ED06-4BE9-0B34-C1B208FB846B}"/>
              </a:ext>
            </a:extLst>
          </p:cNvPr>
          <p:cNvSpPr txBox="1"/>
          <p:nvPr/>
        </p:nvSpPr>
        <p:spPr>
          <a:xfrm>
            <a:off x="3172764" y="2613392"/>
            <a:ext cx="584647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0000" dirty="0" err="1"/>
              <a:t>KoliPortál</a:t>
            </a:r>
            <a:endParaRPr lang="hu-HU" sz="10000" dirty="0"/>
          </a:p>
        </p:txBody>
      </p:sp>
    </p:spTree>
    <p:extLst>
      <p:ext uri="{BB962C8B-B14F-4D97-AF65-F5344CB8AC3E}">
        <p14:creationId xmlns:p14="http://schemas.microsoft.com/office/powerpoint/2010/main" val="1687663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</TotalTime>
  <Words>900</Words>
  <Application>Microsoft Office PowerPoint</Application>
  <PresentationFormat>Szélesvásznú</PresentationFormat>
  <Paragraphs>146</Paragraphs>
  <Slides>21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Courier New</vt:lpstr>
      <vt:lpstr>Wingdings 3</vt:lpstr>
      <vt:lpstr>Ion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Pallai Nikolett Noémi 039</dc:creator>
  <cp:lastModifiedBy>Norbert Pallai</cp:lastModifiedBy>
  <cp:revision>105</cp:revision>
  <dcterms:created xsi:type="dcterms:W3CDTF">2026-04-02T10:43:32Z</dcterms:created>
  <dcterms:modified xsi:type="dcterms:W3CDTF">2026-04-11T19:19:41Z</dcterms:modified>
</cp:coreProperties>
</file>